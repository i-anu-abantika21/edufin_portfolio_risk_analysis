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Libre Baskerville" panose="02000000000000000000" pitchFamily="2" charset="0"/>
      <p:regular r:id="rId9"/>
    </p:embeddedFont>
    <p:embeddedFont>
      <p:font typeface="Open Sans" panose="020B0606030504020204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wesha Abantika" userId="884451ba5ad86e50" providerId="LiveId" clId="{CF425568-2C94-4597-8788-568EB5A7D910}"/>
    <pc:docChg chg="addSld">
      <pc:chgData name="Anwesha Abantika" userId="884451ba5ad86e50" providerId="LiveId" clId="{CF425568-2C94-4597-8788-568EB5A7D910}" dt="2026-08-06T05:56:00.446" v="1" actId="680"/>
      <pc:docMkLst>
        <pc:docMk/>
      </pc:docMkLst>
      <pc:sldChg chg="new">
        <pc:chgData name="Anwesha Abantika" userId="884451ba5ad86e50" providerId="LiveId" clId="{CF425568-2C94-4597-8788-568EB5A7D910}" dt="2026-08-06T05:56:00.415" v="0" actId="680"/>
        <pc:sldMkLst>
          <pc:docMk/>
          <pc:sldMk cId="1291285723" sldId="261"/>
        </pc:sldMkLst>
      </pc:sldChg>
      <pc:sldChg chg="new">
        <pc:chgData name="Anwesha Abantika" userId="884451ba5ad86e50" providerId="LiveId" clId="{CF425568-2C94-4597-8788-568EB5A7D910}" dt="2026-08-06T05:56:00.446" v="1" actId="680"/>
        <pc:sldMkLst>
          <pc:docMk/>
          <pc:sldMk cId="78137441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35038" y="4044105"/>
            <a:ext cx="17217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EduFin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3645" y="4728562"/>
            <a:ext cx="904056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Portfolio Risk 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5038" y="6001645"/>
            <a:ext cx="17217923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Business Briefing | Days 1 to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714025"/>
            <a:ext cx="9903171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1 — Portfolio Health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4195610"/>
            <a:ext cx="637880" cy="637880"/>
            <a:chOff x="0" y="0"/>
            <a:chExt cx="850506" cy="8505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9" name="Freeform 9" descr="preencoded.png"/>
          <p:cNvSpPr/>
          <p:nvPr/>
        </p:nvSpPr>
        <p:spPr>
          <a:xfrm>
            <a:off x="1098575" y="430188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2222" r="-222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13630" y="428342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portfolio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13630" y="4820241"/>
            <a:ext cx="7053110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₹204.82 Cr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21108" y="4195610"/>
            <a:ext cx="637880" cy="637880"/>
            <a:chOff x="0" y="0"/>
            <a:chExt cx="850506" cy="8505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4" name="Freeform 14" descr="preencoded.png"/>
          <p:cNvSpPr/>
          <p:nvPr/>
        </p:nvSpPr>
        <p:spPr>
          <a:xfrm>
            <a:off x="9427445" y="4301881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444" r="-444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42499" y="4283421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Default exposure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42499" y="4820241"/>
            <a:ext cx="705326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₹35.18 Cr (Default rate 11.8% — high)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5926636"/>
            <a:ext cx="637880" cy="637880"/>
            <a:chOff x="0" y="0"/>
            <a:chExt cx="850506" cy="85050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9" name="Freeform 19" descr="preencoded.png"/>
          <p:cNvSpPr/>
          <p:nvPr/>
        </p:nvSpPr>
        <p:spPr>
          <a:xfrm>
            <a:off x="1098575" y="60328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13630" y="601444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Concentration risk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3630" y="6551266"/>
            <a:ext cx="705311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Large loans (&gt;₹6L): 18% default rate — outsized contribution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321108" y="5926636"/>
            <a:ext cx="637880" cy="637880"/>
            <a:chOff x="0" y="0"/>
            <a:chExt cx="850506" cy="8505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0392" cy="850392"/>
            </a:xfrm>
            <a:custGeom>
              <a:avLst/>
              <a:gdLst/>
              <a:ahLst/>
              <a:cxnLst/>
              <a:rect l="l" t="t" r="r" b="b"/>
              <a:pathLst>
                <a:path w="850392" h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24" name="Freeform 24" descr="preencoded.png"/>
          <p:cNvSpPr/>
          <p:nvPr/>
        </p:nvSpPr>
        <p:spPr>
          <a:xfrm>
            <a:off x="9427445" y="6032897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5" y="0"/>
                </a:lnTo>
                <a:lnTo>
                  <a:pt x="425205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2221" b="-42221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0242499" y="601444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Root cause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42499" y="6551266"/>
            <a:ext cx="705326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Lending policy failure after migration → underwriting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28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37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497654"/>
            <a:ext cx="9718177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2 — Customer Risk 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992238" y="2979239"/>
            <a:ext cx="8009934" cy="2522191"/>
          </a:xfrm>
          <a:custGeom>
            <a:avLst/>
            <a:gdLst/>
            <a:ahLst/>
            <a:cxnLst/>
            <a:rect l="l" t="t" r="r" b="b"/>
            <a:pathLst>
              <a:path w="8009934" h="2522191">
                <a:moveTo>
                  <a:pt x="0" y="0"/>
                </a:moveTo>
                <a:lnTo>
                  <a:pt x="8009935" y="0"/>
                </a:lnTo>
                <a:lnTo>
                  <a:pt x="8009935" y="2522191"/>
                </a:lnTo>
                <a:lnTo>
                  <a:pt x="0" y="2522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23" b="-223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4827013" y="3234328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0832" b="-2083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313850" y="410363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Credit score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3850" y="4640466"/>
            <a:ext cx="73666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Low CIBIL (&lt;650) → highest default contribution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85684" y="2979239"/>
            <a:ext cx="8010077" cy="2522191"/>
          </a:xfrm>
          <a:custGeom>
            <a:avLst/>
            <a:gdLst/>
            <a:ahLst/>
            <a:cxnLst/>
            <a:rect l="l" t="t" r="r" b="b"/>
            <a:pathLst>
              <a:path w="8010077" h="2522191">
                <a:moveTo>
                  <a:pt x="0" y="0"/>
                </a:moveTo>
                <a:lnTo>
                  <a:pt x="8010078" y="0"/>
                </a:lnTo>
                <a:lnTo>
                  <a:pt x="8010078" y="2522191"/>
                </a:lnTo>
                <a:lnTo>
                  <a:pt x="0" y="25221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24" b="-224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13120468" y="3234328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4" y="0"/>
                </a:lnTo>
                <a:lnTo>
                  <a:pt x="340224" y="340224"/>
                </a:lnTo>
                <a:lnTo>
                  <a:pt x="0" y="340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777" b="-277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07306" y="410363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 band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7306" y="4640466"/>
            <a:ext cx="7366845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Borrowers 31–35 show elevated defaults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92238" y="5784952"/>
            <a:ext cx="8009934" cy="2975820"/>
          </a:xfrm>
          <a:custGeom>
            <a:avLst/>
            <a:gdLst/>
            <a:ahLst/>
            <a:cxnLst/>
            <a:rect l="l" t="t" r="r" b="b"/>
            <a:pathLst>
              <a:path w="8009934" h="2975820">
                <a:moveTo>
                  <a:pt x="0" y="0"/>
                </a:moveTo>
                <a:lnTo>
                  <a:pt x="8009935" y="0"/>
                </a:lnTo>
                <a:lnTo>
                  <a:pt x="8009935" y="2975819"/>
                </a:lnTo>
                <a:lnTo>
                  <a:pt x="0" y="2975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8" b="-88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4827013" y="6040041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3" y="0"/>
                </a:lnTo>
                <a:lnTo>
                  <a:pt x="340223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777" r="-2777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13850" y="6909349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Income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13850" y="7446169"/>
            <a:ext cx="7366692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Income &lt; ₹3L correlated with higher default probability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285684" y="5784952"/>
            <a:ext cx="8010077" cy="2975820"/>
          </a:xfrm>
          <a:custGeom>
            <a:avLst/>
            <a:gdLst/>
            <a:ahLst/>
            <a:cxnLst/>
            <a:rect l="l" t="t" r="r" b="b"/>
            <a:pathLst>
              <a:path w="8010077" h="2975820">
                <a:moveTo>
                  <a:pt x="0" y="0"/>
                </a:moveTo>
                <a:lnTo>
                  <a:pt x="8010078" y="0"/>
                </a:lnTo>
                <a:lnTo>
                  <a:pt x="8010078" y="2975819"/>
                </a:lnTo>
                <a:lnTo>
                  <a:pt x="0" y="2975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89" b="-89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13120468" y="6040041"/>
            <a:ext cx="340223" cy="340223"/>
          </a:xfrm>
          <a:custGeom>
            <a:avLst/>
            <a:gdLst/>
            <a:ahLst/>
            <a:cxnLst/>
            <a:rect l="l" t="t" r="r" b="b"/>
            <a:pathLst>
              <a:path w="340223" h="340223">
                <a:moveTo>
                  <a:pt x="0" y="0"/>
                </a:moveTo>
                <a:lnTo>
                  <a:pt x="340224" y="0"/>
                </a:lnTo>
                <a:lnTo>
                  <a:pt x="340224" y="340223"/>
                </a:lnTo>
                <a:lnTo>
                  <a:pt x="0" y="340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t="-18054" b="-1805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607306" y="6909349"/>
            <a:ext cx="386849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Highest-risk segment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07306" y="7446169"/>
            <a:ext cx="73668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Student, unemployed, income &lt; ₹3L — priority for collections &amp; remediation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01826" y="843115"/>
            <a:ext cx="7441854" cy="7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 3 — Time Analysis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501826" y="1900390"/>
            <a:ext cx="7555554" cy="1901133"/>
          </a:xfrm>
          <a:custGeom>
            <a:avLst/>
            <a:gdLst/>
            <a:ahLst/>
            <a:cxnLst/>
            <a:rect l="l" t="t" r="r" b="b"/>
            <a:pathLst>
              <a:path w="7555554" h="1901133">
                <a:moveTo>
                  <a:pt x="0" y="0"/>
                </a:moveTo>
                <a:lnTo>
                  <a:pt x="7555554" y="0"/>
                </a:lnTo>
                <a:lnTo>
                  <a:pt x="7555554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3" b="-53"/>
            </a:stretch>
          </a:blipFill>
        </p:spPr>
      </p:sp>
      <p:sp>
        <p:nvSpPr>
          <p:cNvPr id="8" name="Freeform 8" descr="preencoded.png"/>
          <p:cNvSpPr/>
          <p:nvPr/>
        </p:nvSpPr>
        <p:spPr>
          <a:xfrm>
            <a:off x="5146548" y="2099672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39285" b="-3928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751857" y="2776690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Acceleration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51857" y="3197866"/>
            <a:ext cx="7055491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Default spike begins Aug 2022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9230316" y="1900390"/>
            <a:ext cx="7555706" cy="1901133"/>
          </a:xfrm>
          <a:custGeom>
            <a:avLst/>
            <a:gdLst/>
            <a:ahLst/>
            <a:cxnLst/>
            <a:rect l="l" t="t" r="r" b="b"/>
            <a:pathLst>
              <a:path w="7555706" h="1901133">
                <a:moveTo>
                  <a:pt x="0" y="0"/>
                </a:moveTo>
                <a:lnTo>
                  <a:pt x="7555706" y="0"/>
                </a:lnTo>
                <a:lnTo>
                  <a:pt x="7555706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" b="-54"/>
            </a:stretch>
          </a:blipFill>
        </p:spPr>
      </p:sp>
      <p:sp>
        <p:nvSpPr>
          <p:cNvPr id="12" name="Freeform 12" descr="preencoded.png"/>
          <p:cNvSpPr/>
          <p:nvPr/>
        </p:nvSpPr>
        <p:spPr>
          <a:xfrm>
            <a:off x="12875200" y="2099672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4" y="0"/>
                </a:lnTo>
                <a:lnTo>
                  <a:pt x="265804" y="265805"/>
                </a:lnTo>
                <a:lnTo>
                  <a:pt x="0" y="2658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5357" r="-5357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480356" y="2776690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Crisis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80356" y="3197866"/>
            <a:ext cx="7055644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Threshold crossed Oct 2022: &gt;10%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501826" y="3974459"/>
            <a:ext cx="7555554" cy="1901133"/>
          </a:xfrm>
          <a:custGeom>
            <a:avLst/>
            <a:gdLst/>
            <a:ahLst/>
            <a:cxnLst/>
            <a:rect l="l" t="t" r="r" b="b"/>
            <a:pathLst>
              <a:path w="7555554" h="1901133">
                <a:moveTo>
                  <a:pt x="0" y="0"/>
                </a:moveTo>
                <a:lnTo>
                  <a:pt x="7555554" y="0"/>
                </a:lnTo>
                <a:lnTo>
                  <a:pt x="7555554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3" b="-53"/>
            </a:stretch>
          </a:blipFill>
        </p:spPr>
      </p:sp>
      <p:sp>
        <p:nvSpPr>
          <p:cNvPr id="16" name="Freeform 16" descr="preencoded.png"/>
          <p:cNvSpPr/>
          <p:nvPr/>
        </p:nvSpPr>
        <p:spPr>
          <a:xfrm>
            <a:off x="5146548" y="4173741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5" y="0"/>
                </a:lnTo>
                <a:lnTo>
                  <a:pt x="265805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784" r="-1788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751857" y="4850759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Time-to-Default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51857" y="5271935"/>
            <a:ext cx="7055491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Average ~223–224 days</a:t>
            </a:r>
          </a:p>
        </p:txBody>
      </p:sp>
      <p:sp>
        <p:nvSpPr>
          <p:cNvPr id="19" name="Freeform 19" descr="preencoded.png"/>
          <p:cNvSpPr/>
          <p:nvPr/>
        </p:nvSpPr>
        <p:spPr>
          <a:xfrm>
            <a:off x="9230316" y="3974459"/>
            <a:ext cx="7555706" cy="1901133"/>
          </a:xfrm>
          <a:custGeom>
            <a:avLst/>
            <a:gdLst/>
            <a:ahLst/>
            <a:cxnLst/>
            <a:rect l="l" t="t" r="r" b="b"/>
            <a:pathLst>
              <a:path w="7555706" h="1901133">
                <a:moveTo>
                  <a:pt x="0" y="0"/>
                </a:moveTo>
                <a:lnTo>
                  <a:pt x="7555706" y="0"/>
                </a:lnTo>
                <a:lnTo>
                  <a:pt x="7555706" y="1901133"/>
                </a:lnTo>
                <a:lnTo>
                  <a:pt x="0" y="19011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54" b="-54"/>
            </a:stretch>
          </a:blipFill>
        </p:spPr>
      </p:sp>
      <p:sp>
        <p:nvSpPr>
          <p:cNvPr id="20" name="Freeform 20" descr="preencoded.png"/>
          <p:cNvSpPr/>
          <p:nvPr/>
        </p:nvSpPr>
        <p:spPr>
          <a:xfrm>
            <a:off x="12875200" y="4173741"/>
            <a:ext cx="265805" cy="265805"/>
          </a:xfrm>
          <a:custGeom>
            <a:avLst/>
            <a:gdLst/>
            <a:ahLst/>
            <a:cxnLst/>
            <a:rect l="l" t="t" r="r" b="b"/>
            <a:pathLst>
              <a:path w="265805" h="265805">
                <a:moveTo>
                  <a:pt x="0" y="0"/>
                </a:moveTo>
                <a:lnTo>
                  <a:pt x="265804" y="0"/>
                </a:lnTo>
                <a:lnTo>
                  <a:pt x="265804" y="265804"/>
                </a:lnTo>
                <a:lnTo>
                  <a:pt x="0" y="2658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9644" b="-19644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480356" y="4850759"/>
            <a:ext cx="27687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Financial Impact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80356" y="5271935"/>
            <a:ext cx="7055644" cy="35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Exposure ₹944.38 Cr by Jun 2023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1826" y="6032154"/>
            <a:ext cx="15284206" cy="66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timeline shows rapid acceleration beginning Aug 2022, crossing a crisis threshold in Oct 2022. Average time-to-default ~223–224 days; cumulative financial exposure escalated to ₹944.38 Cr by Jun 2023.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501826" y="6951316"/>
            <a:ext cx="15284206" cy="27680"/>
            <a:chOff x="0" y="0"/>
            <a:chExt cx="20378941" cy="3690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378927" cy="36831"/>
            </a:xfrm>
            <a:custGeom>
              <a:avLst/>
              <a:gdLst/>
              <a:ahLst/>
              <a:cxnLst/>
              <a:rect l="l" t="t" r="r" b="b"/>
              <a:pathLst>
                <a:path w="20378927" h="36831">
                  <a:moveTo>
                    <a:pt x="0" y="18415"/>
                  </a:moveTo>
                  <a:cubicBezTo>
                    <a:pt x="0" y="8255"/>
                    <a:pt x="8255" y="0"/>
                    <a:pt x="18415" y="0"/>
                  </a:cubicBezTo>
                  <a:lnTo>
                    <a:pt x="20360512" y="0"/>
                  </a:lnTo>
                  <a:cubicBezTo>
                    <a:pt x="20370673" y="0"/>
                    <a:pt x="20378927" y="8255"/>
                    <a:pt x="20378927" y="18415"/>
                  </a:cubicBezTo>
                  <a:cubicBezTo>
                    <a:pt x="20378927" y="28575"/>
                    <a:pt x="20370673" y="36830"/>
                    <a:pt x="20360512" y="36830"/>
                  </a:cubicBezTo>
                  <a:lnTo>
                    <a:pt x="18415" y="36830"/>
                  </a:lnTo>
                  <a:cubicBezTo>
                    <a:pt x="8255" y="36957"/>
                    <a:pt x="0" y="28702"/>
                    <a:pt x="0" y="18415"/>
                  </a:cubicBezTo>
                  <a:close/>
                </a:path>
              </a:pathLst>
            </a:custGeom>
            <a:solidFill>
              <a:srgbClr val="49495A">
                <a:alpha val="24706"/>
              </a:srgbClr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1501826" y="7392438"/>
            <a:ext cx="6009380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Top institutions with fastest defaults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1826" y="7882833"/>
            <a:ext cx="7371902" cy="148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National Law School of India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Visvesvaraya Technological University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Birla Institute of Applied Sciences</a:t>
            </a:r>
          </a:p>
          <a:p>
            <a:pPr marL="410210" lvl="1" indent="-205105" algn="l">
              <a:lnSpc>
                <a:spcPts val="2427"/>
              </a:lnSpc>
              <a:buFont typeface="Arial"/>
              <a:buChar char="•"/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Regional Management Institute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423502" y="7392438"/>
            <a:ext cx="3683194" cy="355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limitation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23502" y="7882833"/>
            <a:ext cx="7371902" cy="669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7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No reliable payment transaction history → limited behavioral signals; affects predictive accuracy.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159346"/>
            <a:ext cx="9818046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Final Recommendations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8" y="3640931"/>
            <a:ext cx="8009934" cy="2087318"/>
            <a:chOff x="0" y="0"/>
            <a:chExt cx="10679913" cy="27830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275750" y="39149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Pause &amp; contain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750" y="4451747"/>
            <a:ext cx="74428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Freeze high-risk lending; review exceptions within 72 hours.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285684" y="3640931"/>
            <a:ext cx="8010077" cy="2087318"/>
            <a:chOff x="0" y="0"/>
            <a:chExt cx="10680103" cy="278309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569206" y="391492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Recovery sprint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69206" y="445174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Prioritize recovery of ₹35.18 Cr through collections and legal action.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92238" y="6011761"/>
            <a:ext cx="8009934" cy="2087318"/>
            <a:chOff x="0" y="0"/>
            <a:chExt cx="10679913" cy="278309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79937" cy="2783078"/>
            </a:xfrm>
            <a:custGeom>
              <a:avLst/>
              <a:gdLst/>
              <a:ahLst/>
              <a:cxnLst/>
              <a:rect l="l" t="t" r="r" b="b"/>
              <a:pathLst>
                <a:path w="10679937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2726309"/>
                  </a:lnTo>
                  <a:cubicBezTo>
                    <a:pt x="10679937" y="2757678"/>
                    <a:pt x="10654537" y="2783078"/>
                    <a:pt x="10623169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1275750" y="628575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Policy &amp; controls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5750" y="6822577"/>
            <a:ext cx="7442892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Restore underwriting rules and enforce automated credit gates.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285684" y="6011761"/>
            <a:ext cx="8010077" cy="2087318"/>
            <a:chOff x="0" y="0"/>
            <a:chExt cx="10680103" cy="27830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80192" cy="2783078"/>
            </a:xfrm>
            <a:custGeom>
              <a:avLst/>
              <a:gdLst/>
              <a:ahLst/>
              <a:cxnLst/>
              <a:rect l="l" t="t" r="r" b="b"/>
              <a:pathLst>
                <a:path w="10680192" h="278307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2726309"/>
                  </a:lnTo>
                  <a:cubicBezTo>
                    <a:pt x="10680192" y="2757678"/>
                    <a:pt x="10654792" y="2783078"/>
                    <a:pt x="10623423" y="2783078"/>
                  </a:cubicBezTo>
                  <a:lnTo>
                    <a:pt x="56769" y="2783078"/>
                  </a:lnTo>
                  <a:cubicBezTo>
                    <a:pt x="25400" y="2783078"/>
                    <a:pt x="0" y="2757678"/>
                    <a:pt x="0" y="2726309"/>
                  </a:cubicBezTo>
                  <a:close/>
                </a:path>
              </a:pathLst>
            </a:custGeom>
            <a:solidFill>
              <a:srgbClr val="EAE8F3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9569206" y="6285757"/>
            <a:ext cx="35440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Monitor &amp; predict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569206" y="6822577"/>
            <a:ext cx="7443045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Deploy early-warning analytics and strengthen payment history feeds.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267</Words>
  <Application>Microsoft Office PowerPoint</Application>
  <PresentationFormat>Custom</PresentationFormat>
  <Paragraphs>47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</vt:lpstr>
      <vt:lpstr>Libre Baskerville</vt:lpstr>
      <vt:lpstr>Open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Anwesha Abantika</dc:creator>
  <cp:lastModifiedBy>Anwesha Abantika</cp:lastModifiedBy>
  <cp:revision>1</cp:revision>
  <dcterms:created xsi:type="dcterms:W3CDTF">2006-08-16T00:00:00Z</dcterms:created>
  <dcterms:modified xsi:type="dcterms:W3CDTF">2026-08-06T05:56:09Z</dcterms:modified>
  <dc:identifier>DAHNNf8Xhng</dc:identifier>
</cp:coreProperties>
</file>